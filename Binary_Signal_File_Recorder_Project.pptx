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95360" y="2606039"/>
            <a:ext cx="146304" cy="640080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2331720"/>
            <a:ext cx="146304" cy="1188720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26880" y="2720339"/>
            <a:ext cx="146304" cy="411480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92640" y="2103120"/>
            <a:ext cx="146304" cy="1645920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2514600"/>
            <a:ext cx="146304" cy="822960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24160" y="2263139"/>
            <a:ext cx="146304" cy="1325880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0" y="2674620"/>
            <a:ext cx="146304" cy="502920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097280"/>
            <a:ext cx="7498079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17E30"/>
                </a:solidFill>
                <a:latin typeface="Aptos Display"/>
              </a:defRPr>
            </a:pPr>
            <a:r>
              <a:t>BINARY SIGNAL</a:t>
            </a:r>
            <a:br/>
            <a:r>
              <a:t>FILE RECORDER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71800"/>
            <a:ext cx="6949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E3752"/>
                </a:solidFill>
              </a:defRPr>
            </a:pPr>
            <a:r>
              <a:t>Java Programming | Individual Mini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86200"/>
            <a:ext cx="6858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D343C"/>
                </a:solidFill>
                <a:latin typeface="Aptos"/>
              </a:defRPr>
            </a:pPr>
            <a:r>
              <a:t>Student: RACKSHANA M</a:t>
            </a:r>
          </a:p>
          <a:p>
            <a:pPr>
              <a:spcAft>
                <a:spcPts val="1000"/>
              </a:spcAft>
              <a:defRPr sz="1500">
                <a:latin typeface="Aptos"/>
              </a:defRPr>
            </a:pPr>
            <a:r>
              <a:t>Register Number: 711525BEC089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4652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580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17E30"/>
                </a:solidFill>
                <a:latin typeface="Aptos Display"/>
              </a:defRPr>
            </a:pPr>
            <a:r>
              <a:t>Problem Statement and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580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Problem statement: Recording digital signal samples in a reusable file can be error-prone when values are copied manually or are not checked after storage.</a:t>
            </a:r>
          </a:p>
          <a:p>
            <a:pPr>
              <a:spcAft>
                <a:spcPts val="9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Objective 1: Generate a sequence of digital samples containing only 0 and 1.</a:t>
            </a:r>
          </a:p>
          <a:p>
            <a:pPr>
              <a:spcAft>
                <a:spcPts val="9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Objective 2: Save the sample count and values in a binary file using DataOutputStream.</a:t>
            </a:r>
          </a:p>
          <a:p>
            <a:pPr>
              <a:spcAft>
                <a:spcPts val="9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Objective 3: Read the stored values using DataInputStream and reconstruct the sample array.</a:t>
            </a:r>
          </a:p>
          <a:p>
            <a:pPr>
              <a:spcAft>
                <a:spcPts val="9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Objective 4: Compare the original and restored arrays and report PASS or FAIL.</a:t>
            </a:r>
          </a:p>
          <a:p>
            <a:pPr>
              <a:spcAft>
                <a:spcPts val="9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Objective 5: Handle file errors and invalid/corrupted data without silently accepting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17E30"/>
                </a:solidFill>
                <a:latin typeface="Aptos Display"/>
              </a:defRPr>
            </a:pPr>
            <a: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77580"/>
                </a:solidFill>
                <a:latin typeface="Aptos"/>
              </a:defRPr>
            </a:pPr>
            <a:r>
              <a:t>A simple file-based workflow using Java byte streams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580"/>
                </a:solidFill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899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1. Generate a repeatable sequence of 20 binary samples using Java Random.</a:t>
            </a:r>
          </a:p>
          <a:p>
            <a:pPr>
              <a:spcAft>
                <a:spcPts val="9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2. Write the number of samples followed by each sample to signal_samples.dat.</a:t>
            </a:r>
          </a:p>
          <a:p>
            <a:pPr>
              <a:spcAft>
                <a:spcPts val="9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3. Open the same file and read the count and values back into a second array.</a:t>
            </a:r>
          </a:p>
          <a:p>
            <a:pPr>
              <a:spcAft>
                <a:spcPts val="9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4. Validate that each recovered sample is either 0 or 1.</a:t>
            </a:r>
          </a:p>
          <a:p>
            <a:pPr>
              <a:spcAft>
                <a:spcPts val="9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5. Use Arrays.equals() to verify that the recovered array exactly matches the original.</a:t>
            </a:r>
          </a:p>
          <a:p>
            <a:pPr>
              <a:spcAft>
                <a:spcPts val="9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6. Display both arrays and a clear verification result.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17E30"/>
                </a:solidFill>
                <a:latin typeface="Aptos Display"/>
              </a:defRPr>
            </a:pPr>
            <a:r>
              <a:t>Module / Block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580"/>
                </a:solidFill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920240" cy="960120"/>
          </a:xfrm>
          <a:prstGeom prst="roundRect">
            <a:avLst/>
          </a:prstGeom>
          <a:solidFill>
            <a:srgbClr val="E2F5F2"/>
          </a:solidFill>
          <a:ln>
            <a:solidFill>
              <a:srgbClr val="3E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E3752"/>
                </a:solidFill>
              </a:defRPr>
            </a:pPr>
            <a:r>
              <a:t>Sample</a:t>
            </a:r>
            <a:br/>
            <a:r>
              <a:t>Generator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2057400"/>
            <a:ext cx="1920240" cy="960120"/>
          </a:xfrm>
          <a:prstGeom prst="roundRect">
            <a:avLst/>
          </a:prstGeom>
          <a:solidFill>
            <a:srgbClr val="E2F5F2"/>
          </a:solidFill>
          <a:ln>
            <a:solidFill>
              <a:srgbClr val="3E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E3752"/>
                </a:solidFill>
              </a:defRPr>
            </a:pPr>
            <a:r>
              <a:t>Binary File</a:t>
            </a:r>
            <a:br/>
            <a:r>
              <a:t>Writer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057400"/>
            <a:ext cx="2103120" cy="960120"/>
          </a:xfrm>
          <a:prstGeom prst="roundRect">
            <a:avLst/>
          </a:prstGeom>
          <a:solidFill>
            <a:srgbClr val="FFF1E4"/>
          </a:solidFill>
          <a:ln>
            <a:solidFill>
              <a:srgbClr val="3E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E3752"/>
                </a:solidFill>
              </a:defRPr>
            </a:pPr>
            <a:r>
              <a:t>signal_samples.dat</a:t>
            </a:r>
            <a:br/>
            <a:r>
              <a:t>(Binary file)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1080" y="2057400"/>
            <a:ext cx="1920240" cy="960120"/>
          </a:xfrm>
          <a:prstGeom prst="roundRect">
            <a:avLst/>
          </a:prstGeom>
          <a:solidFill>
            <a:srgbClr val="E2F5F2"/>
          </a:solidFill>
          <a:ln>
            <a:solidFill>
              <a:srgbClr val="3E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E3752"/>
                </a:solidFill>
              </a:defRPr>
            </a:pPr>
            <a:r>
              <a:t>Binary File</a:t>
            </a:r>
            <a:br/>
            <a:r>
              <a:t>Reader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3977639"/>
            <a:ext cx="1920240" cy="960120"/>
          </a:xfrm>
          <a:prstGeom prst="roundRect">
            <a:avLst/>
          </a:prstGeom>
          <a:solidFill>
            <a:srgbClr val="E2F5F2"/>
          </a:solidFill>
          <a:ln>
            <a:solidFill>
              <a:srgbClr val="3E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E3752"/>
                </a:solidFill>
              </a:defRPr>
            </a:pPr>
            <a:r>
              <a:t>Array</a:t>
            </a:r>
            <a:br/>
            <a:r>
              <a:t>Verifier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2542032"/>
            <a:ext cx="685800" cy="0"/>
          </a:xfrm>
          <a:prstGeom prst="line">
            <a:avLst/>
          </a:prstGeom>
          <a:ln w="31750">
            <a:solidFill>
              <a:srgbClr val="E17E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66360" y="2542032"/>
            <a:ext cx="685800" cy="0"/>
          </a:xfrm>
          <a:prstGeom prst="line">
            <a:avLst/>
          </a:prstGeom>
          <a:ln w="31750">
            <a:solidFill>
              <a:srgbClr val="E17E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955279" y="2542032"/>
            <a:ext cx="685801" cy="0"/>
          </a:xfrm>
          <a:prstGeom prst="line">
            <a:avLst/>
          </a:prstGeom>
          <a:ln w="31750">
            <a:solidFill>
              <a:srgbClr val="E17E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601200" y="3017520"/>
            <a:ext cx="0" cy="960119"/>
          </a:xfrm>
          <a:prstGeom prst="line">
            <a:avLst/>
          </a:prstGeom>
          <a:ln w="31750">
            <a:solidFill>
              <a:srgbClr val="E17E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53035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E3752"/>
                </a:solidFill>
              </a:defRPr>
            </a:pPr>
            <a:r>
              <a:t>Data flow: generate → write → store → read → compare →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17E30"/>
                </a:solidFill>
                <a:latin typeface="Aptos Display"/>
              </a:defRPr>
            </a:pPr>
            <a:r>
              <a:t>Description of the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580"/>
                </a:solidFill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343C"/>
                </a:solidFill>
                <a:latin typeface="Aptos"/>
              </a:defRPr>
            </a:pPr>
            <a:r>
              <a:t>Sample Generator — creates the original integer array using a fixed random seed so the demonstration can be repeated.</a:t>
            </a:r>
          </a:p>
          <a:p>
            <a:pPr>
              <a:spcAft>
                <a:spcPts val="900"/>
              </a:spcAft>
              <a:defRPr sz="1900">
                <a:solidFill>
                  <a:srgbClr val="2D343C"/>
                </a:solidFill>
                <a:latin typeface="Aptos"/>
              </a:defRPr>
            </a:pPr>
            <a:r>
              <a:t>Binary File Writer — uses FileOutputStream and DataOutputStream to store the sample count and every sample as binary integer data.</a:t>
            </a:r>
          </a:p>
          <a:p>
            <a:pPr>
              <a:spcAft>
                <a:spcPts val="900"/>
              </a:spcAft>
              <a:defRPr sz="1900">
                <a:solidFill>
                  <a:srgbClr val="2D343C"/>
                </a:solidFill>
                <a:latin typeface="Aptos"/>
              </a:defRPr>
            </a:pPr>
            <a:r>
              <a:t>Binary File Reader — uses FileInputStream and DataInputStream to rebuild an array from the saved file.</a:t>
            </a:r>
          </a:p>
          <a:p>
            <a:pPr>
              <a:spcAft>
                <a:spcPts val="900"/>
              </a:spcAft>
              <a:defRPr sz="1900">
                <a:solidFill>
                  <a:srgbClr val="2D343C"/>
                </a:solidFill>
                <a:latin typeface="Aptos"/>
              </a:defRPr>
            </a:pPr>
            <a:r>
              <a:t>Array Verifier — checks the values and compares the original and restored arrays using Arrays.equals().</a:t>
            </a:r>
          </a:p>
          <a:p>
            <a:pPr>
              <a:spcAft>
                <a:spcPts val="900"/>
              </a:spcAft>
              <a:defRPr sz="1900">
                <a:solidFill>
                  <a:srgbClr val="2D343C"/>
                </a:solidFill>
                <a:latin typeface="Aptos"/>
              </a:defRPr>
            </a:pPr>
            <a:r>
              <a:t>Exception Handler — catches I/O errors and reports invalid or incomplete file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17E30"/>
                </a:solidFill>
                <a:latin typeface="Aptos Display"/>
              </a:defRPr>
            </a:pPr>
            <a:r>
              <a:t>Class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580"/>
                </a:solidFill>
              </a:defRPr>
            </a:pPr>
            <a: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3657600" cy="3474720"/>
          </a:xfrm>
          <a:prstGeom prst="rect">
            <a:avLst/>
          </a:prstGeom>
          <a:solidFill>
            <a:srgbClr val="F5F8F9"/>
          </a:solidFill>
          <a:ln>
            <a:solidFill>
              <a:srgbClr val="3E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3657600" cy="438912"/>
          </a:xfrm>
          <a:prstGeom prst="rect">
            <a:avLst/>
          </a:prstGeom>
          <a:solidFill>
            <a:srgbClr val="1E3752"/>
          </a:solidFill>
          <a:ln>
            <a:solidFill>
              <a:srgbClr val="1E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545336"/>
            <a:ext cx="35112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BinarySignalFileRecorder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075688"/>
            <a:ext cx="3383280" cy="2834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D343C"/>
                </a:solidFill>
              </a:defRPr>
            </a:pPr>
            <a:r>
              <a:t>+ main(String[] args)</a:t>
            </a:r>
          </a:p>
          <a:p>
            <a:pPr>
              <a:spcAft>
                <a:spcPts val="700"/>
              </a:spcAft>
              <a:defRPr sz="1300">
                <a:solidFill>
                  <a:srgbClr val="2D343C"/>
                </a:solidFill>
              </a:defRPr>
            </a:pPr>
            <a:r>
              <a:t>- generateSamples(int, long)</a:t>
            </a:r>
          </a:p>
          <a:p>
            <a:pPr>
              <a:spcAft>
                <a:spcPts val="700"/>
              </a:spcAft>
              <a:defRPr sz="1300">
                <a:solidFill>
                  <a:srgbClr val="2D343C"/>
                </a:solidFill>
              </a:defRPr>
            </a:pPr>
            <a:r>
              <a:t>- writeSamples(int[], String)</a:t>
            </a:r>
          </a:p>
          <a:p>
            <a:pPr>
              <a:spcAft>
                <a:spcPts val="700"/>
              </a:spcAft>
              <a:defRPr sz="1300">
                <a:solidFill>
                  <a:srgbClr val="2D343C"/>
                </a:solidFill>
              </a:defRPr>
            </a:pPr>
            <a:r>
              <a:t>- readSamples(String)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508760"/>
            <a:ext cx="2743200" cy="1828800"/>
          </a:xfrm>
          <a:prstGeom prst="rect">
            <a:avLst/>
          </a:prstGeom>
          <a:solidFill>
            <a:srgbClr val="F5F8F9"/>
          </a:solidFill>
          <a:ln>
            <a:solidFill>
              <a:srgbClr val="3E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508760"/>
            <a:ext cx="2743200" cy="438912"/>
          </a:xfrm>
          <a:prstGeom prst="rect">
            <a:avLst/>
          </a:prstGeom>
          <a:solidFill>
            <a:srgbClr val="1E3752"/>
          </a:solidFill>
          <a:ln>
            <a:solidFill>
              <a:srgbClr val="1E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2312" y="1545336"/>
            <a:ext cx="25968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DataOutputStream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2075688"/>
            <a:ext cx="24688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D343C"/>
                </a:solidFill>
              </a:defRPr>
            </a:pPr>
            <a:r>
              <a:t>+ writeInt(int)</a:t>
            </a:r>
          </a:p>
          <a:p>
            <a:pPr>
              <a:spcAft>
                <a:spcPts val="700"/>
              </a:spcAft>
              <a:defRPr sz="1300">
                <a:solidFill>
                  <a:srgbClr val="2D343C"/>
                </a:solidFill>
              </a:defRPr>
            </a:pPr>
            <a:r>
              <a:t>Writes typed binary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1508760"/>
            <a:ext cx="2743200" cy="1828800"/>
          </a:xfrm>
          <a:prstGeom prst="rect">
            <a:avLst/>
          </a:prstGeom>
          <a:solidFill>
            <a:srgbClr val="F5F8F9"/>
          </a:solidFill>
          <a:ln>
            <a:solidFill>
              <a:srgbClr val="3E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9560" y="1508760"/>
            <a:ext cx="2743200" cy="438912"/>
          </a:xfrm>
          <a:prstGeom prst="rect">
            <a:avLst/>
          </a:prstGeom>
          <a:solidFill>
            <a:srgbClr val="1E3752"/>
          </a:solidFill>
          <a:ln>
            <a:solidFill>
              <a:srgbClr val="1E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82712" y="1545336"/>
            <a:ext cx="25968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DataInputStream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2075688"/>
            <a:ext cx="24688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D343C"/>
                </a:solidFill>
              </a:defRPr>
            </a:pPr>
            <a:r>
              <a:t>+ readInt()</a:t>
            </a:r>
          </a:p>
          <a:p>
            <a:pPr>
              <a:spcAft>
                <a:spcPts val="700"/>
              </a:spcAft>
              <a:defRPr sz="1300">
                <a:solidFill>
                  <a:srgbClr val="2D343C"/>
                </a:solidFill>
              </a:defRPr>
            </a:pPr>
            <a:r>
              <a:t>Reads typed binary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60" y="3840480"/>
            <a:ext cx="2743200" cy="1371600"/>
          </a:xfrm>
          <a:prstGeom prst="rect">
            <a:avLst/>
          </a:prstGeom>
          <a:solidFill>
            <a:srgbClr val="F5F8F9"/>
          </a:solidFill>
          <a:ln>
            <a:solidFill>
              <a:srgbClr val="3E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09160" y="3840480"/>
            <a:ext cx="2743200" cy="438912"/>
          </a:xfrm>
          <a:prstGeom prst="rect">
            <a:avLst/>
          </a:prstGeom>
          <a:solidFill>
            <a:srgbClr val="1E3752"/>
          </a:solidFill>
          <a:ln>
            <a:solidFill>
              <a:srgbClr val="1E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82312" y="3877056"/>
            <a:ext cx="25968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Arrays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3752" y="4407408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D343C"/>
                </a:solidFill>
              </a:defRPr>
            </a:pPr>
            <a:r>
              <a:t>+ equals(int[], int[])</a:t>
            </a:r>
          </a:p>
          <a:p>
            <a:pPr>
              <a:spcAft>
                <a:spcPts val="700"/>
              </a:spcAft>
              <a:defRPr sz="1300">
                <a:solidFill>
                  <a:srgbClr val="2D343C"/>
                </a:solidFill>
              </a:defRPr>
            </a:pPr>
            <a:r>
              <a:t>Compares arrays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251960" y="2331720"/>
            <a:ext cx="457200" cy="0"/>
          </a:xfrm>
          <a:prstGeom prst="line">
            <a:avLst/>
          </a:prstGeom>
          <a:ln w="22225">
            <a:solidFill>
              <a:srgbClr val="E17E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251960" y="2743200"/>
            <a:ext cx="3657600" cy="411480"/>
          </a:xfrm>
          <a:prstGeom prst="line">
            <a:avLst/>
          </a:prstGeom>
          <a:ln w="22225">
            <a:solidFill>
              <a:srgbClr val="E17E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251960" y="4114800"/>
            <a:ext cx="457200" cy="228600"/>
          </a:xfrm>
          <a:prstGeom prst="line">
            <a:avLst/>
          </a:prstGeom>
          <a:ln w="22225">
            <a:solidFill>
              <a:srgbClr val="E17E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17E30"/>
                </a:solidFill>
                <a:latin typeface="Aptos Display"/>
              </a:defRPr>
            </a:pPr>
            <a:r>
              <a:t>Classes and Their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580"/>
                </a:solidFill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BinarySignalFileRecorder — main class; coordinates generation, writing, reading, verification, and user-facing output.</a:t>
            </a:r>
          </a:p>
          <a:p>
            <a:pPr>
              <a:spcAft>
                <a:spcPts val="9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generateSamples() — creates the integer array of digital samples.</a:t>
            </a:r>
          </a:p>
          <a:p>
            <a:pPr>
              <a:spcAft>
                <a:spcPts val="9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writeSamples() — writes the array length and samples to the binary file.</a:t>
            </a:r>
          </a:p>
          <a:p>
            <a:pPr>
              <a:spcAft>
                <a:spcPts val="9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readSamples() — reads the file and returns a reconstructed array; reports incomplete or invalid data.</a:t>
            </a:r>
          </a:p>
          <a:p>
            <a:pPr>
              <a:spcAft>
                <a:spcPts val="9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Java library classes — DataOutputStream, DataInputStream, FileOutputStream, FileInputStream, Random, and Arrays provide the core services.</a:t>
            </a:r>
          </a:p>
          <a:p>
            <a:pPr>
              <a:spcAft>
                <a:spcPts val="9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Entry point: main(). No subclass or custom interface is required for this small project.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17E30"/>
                </a:solidFill>
                <a:latin typeface="Aptos Display"/>
              </a:defRPr>
            </a:pPr>
            <a:r>
              <a:t>Java Concepts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580"/>
                </a:solidFill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Classes and objects: all application methods are organized in BinarySignalFileRecorder.</a:t>
            </a:r>
          </a:p>
          <a:p>
            <a:pPr>
              <a:spcAft>
                <a:spcPts val="9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Arrays: int[] stores the original samples and the values restored from disk.</a:t>
            </a:r>
          </a:p>
          <a:p>
            <a:pPr>
              <a:spcAft>
                <a:spcPts val="9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File I/O: FileOutputStream and FileInputStream connect the program to the file.</a:t>
            </a:r>
          </a:p>
          <a:p>
            <a:pPr>
              <a:spcAft>
                <a:spcPts val="9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Byte streams: DataOutputStream and DataInputStream write/read binary data types.</a:t>
            </a:r>
          </a:p>
          <a:p>
            <a:pPr>
              <a:spcAft>
                <a:spcPts val="9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Exception handling: IOException, EOFException, and IllegalStateException are handled or reported.</a:t>
            </a:r>
          </a:p>
          <a:p>
            <a:pPr>
              <a:spcAft>
                <a:spcPts val="9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Try-with-resources: streams close automatically, even if an error occurs.</a:t>
            </a:r>
          </a:p>
          <a:p>
            <a:pPr>
              <a:spcAft>
                <a:spcPts val="9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Validation: every sample is checked to be either 0 or 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17E30"/>
                </a:solidFill>
                <a:latin typeface="Aptos Display"/>
              </a:defRPr>
            </a:pPr>
            <a:r>
              <a:t>Key Code Segment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77580"/>
                </a:solidFill>
                <a:latin typeface="Aptos"/>
              </a:defRPr>
            </a:pPr>
            <a:r>
              <a:t>Core logic: write → read → compare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580"/>
                </a:solidFill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10835640" cy="4389120"/>
          </a:xfrm>
          <a:prstGeom prst="roundRect">
            <a:avLst/>
          </a:prstGeom>
          <a:solidFill>
            <a:srgbClr val="F5F8F9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435607"/>
            <a:ext cx="10506456" cy="4169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1E3752"/>
                </a:solidFill>
                <a:latin typeface="Consolas"/>
              </a:defRPr>
            </a:pPr>
            <a:r>
              <a:t>try {</a:t>
            </a:r>
          </a:p>
          <a:p>
            <a:pPr>
              <a:spcAft>
                <a:spcPts val="0"/>
              </a:spcAft>
              <a:defRPr sz="1700">
                <a:solidFill>
                  <a:srgbClr val="1E3752"/>
                </a:solidFill>
                <a:latin typeface="Consolas"/>
              </a:defRPr>
            </a:pPr>
            <a:r>
              <a:t>    writeSamples(samples, FILE_NAME);</a:t>
            </a:r>
          </a:p>
          <a:p>
            <a:pPr>
              <a:spcAft>
                <a:spcPts val="0"/>
              </a:spcAft>
              <a:defRPr sz="1700">
                <a:solidFill>
                  <a:srgbClr val="1E3752"/>
                </a:solidFill>
                <a:latin typeface="Consolas"/>
              </a:defRPr>
            </a:pPr>
            <a:r>
              <a:t>    int[] restoredSamples = readSamples(FILE_NAME);</a:t>
            </a:r>
          </a:p>
          <a:p>
            <a:pPr>
              <a:spcAft>
                <a:spcPts val="0"/>
              </a:spcAft>
              <a:defRPr sz="1700">
                <a:solidFill>
                  <a:srgbClr val="1E3752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700">
                <a:solidFill>
                  <a:srgbClr val="1E3752"/>
                </a:solidFill>
                <a:latin typeface="Consolas"/>
              </a:defRPr>
            </a:pPr>
            <a:r>
              <a:t>    boolean verified = Arrays.equals(samples, restoredSamples);</a:t>
            </a:r>
          </a:p>
          <a:p>
            <a:pPr>
              <a:spcAft>
                <a:spcPts val="0"/>
              </a:spcAft>
              <a:defRPr sz="1700">
                <a:solidFill>
                  <a:srgbClr val="1E3752"/>
                </a:solidFill>
                <a:latin typeface="Consolas"/>
              </a:defRPr>
            </a:pPr>
            <a:r>
              <a:t>    System.out.println("Verification: " +</a:t>
            </a:r>
          </a:p>
          <a:p>
            <a:pPr>
              <a:spcAft>
                <a:spcPts val="0"/>
              </a:spcAft>
              <a:defRPr sz="1700">
                <a:solidFill>
                  <a:srgbClr val="1E3752"/>
                </a:solidFill>
                <a:latin typeface="Consolas"/>
              </a:defRPr>
            </a:pPr>
            <a:r>
              <a:t>        (verified ? "PASS - no data lost" : "FAIL - data mismatch"));</a:t>
            </a:r>
          </a:p>
          <a:p>
            <a:pPr>
              <a:spcAft>
                <a:spcPts val="0"/>
              </a:spcAft>
              <a:defRPr sz="1700">
                <a:solidFill>
                  <a:srgbClr val="1E3752"/>
                </a:solidFill>
                <a:latin typeface="Consolas"/>
              </a:defRPr>
            </a:pPr>
            <a:r>
              <a:t>} catch (IOException e) {</a:t>
            </a:r>
          </a:p>
          <a:p>
            <a:pPr>
              <a:spcAft>
                <a:spcPts val="0"/>
              </a:spcAft>
              <a:defRPr sz="1700">
                <a:solidFill>
                  <a:srgbClr val="1E3752"/>
                </a:solidFill>
                <a:latin typeface="Consolas"/>
              </a:defRPr>
            </a:pPr>
            <a:r>
              <a:t>    System.err.println("File I/O error: " + e.getMessage());</a:t>
            </a:r>
          </a:p>
          <a:p>
            <a:pPr>
              <a:spcAft>
                <a:spcPts val="0"/>
              </a:spcAft>
              <a:defRPr sz="1700">
                <a:solidFill>
                  <a:srgbClr val="1E3752"/>
                </a:solidFill>
                <a:latin typeface="Consolas"/>
              </a:defRPr>
            </a:pPr>
            <a:r>
              <a:t>} catch (IllegalStateException e) {</a:t>
            </a:r>
          </a:p>
          <a:p>
            <a:pPr>
              <a:spcAft>
                <a:spcPts val="0"/>
              </a:spcAft>
              <a:defRPr sz="1700">
                <a:solidFill>
                  <a:srgbClr val="1E3752"/>
                </a:solidFill>
                <a:latin typeface="Consolas"/>
              </a:defRPr>
            </a:pPr>
            <a:r>
              <a:t>    System.err.println("Invalid binary file: " + e.getMessage());</a:t>
            </a:r>
          </a:p>
          <a:p>
            <a:pPr>
              <a:spcAft>
                <a:spcPts val="0"/>
              </a:spcAft>
              <a:defRPr sz="1700">
                <a:solidFill>
                  <a:srgbClr val="1E3752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06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77580"/>
                </a:solidFill>
              </a:defRPr>
            </a:pPr>
            <a:r>
              <a:t>The comparison is automatic; the program does not rely on visual inspection alone.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17E30"/>
                </a:solidFill>
                <a:latin typeface="Aptos Display"/>
              </a:defRPr>
            </a:pPr>
            <a:r>
              <a:t>Output —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77580"/>
                </a:solidFill>
                <a:latin typeface="Aptos"/>
              </a:defRPr>
            </a:pPr>
            <a:r>
              <a:t>Expected console output after running the Java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580"/>
                </a:solidFill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10835640" cy="3474720"/>
          </a:xfrm>
          <a:prstGeom prst="roundRect">
            <a:avLst/>
          </a:prstGeom>
          <a:solidFill>
            <a:srgbClr val="1A2028"/>
          </a:solidFill>
          <a:ln>
            <a:solidFill>
              <a:srgbClr val="1A2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1028700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=== Binary Signal File Recorder ===</a:t>
            </a:r>
          </a:p>
          <a:p>
            <a:pPr>
              <a:spcAft>
                <a:spcPts val="18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Generated samples: [1, 0, 1, 0, 0, 1, 0, 1, 1, 0, 1, 0, 0, 0, 0, 1, 0, 1, 1, 1]</a:t>
            </a:r>
          </a:p>
          <a:p>
            <a:pPr>
              <a:spcAft>
                <a:spcPts val="18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Read-back samples: [1, 0, 1, 0, 0, 1, 0, 1, 1, 0, 1, 0, 0, 0, 0, 1, 0, 1, 1, 1]</a:t>
            </a:r>
          </a:p>
          <a:p>
            <a:pPr>
              <a:spcAft>
                <a:spcPts val="1800"/>
              </a:spcAft>
              <a:defRPr sz="1700">
                <a:solidFill>
                  <a:srgbClr val="B3EBD5"/>
                </a:solidFill>
                <a:latin typeface="Consolas"/>
              </a:defRPr>
            </a:pPr>
            <a:r>
              <a:t>Verification: PASS - no data lost</a:t>
            </a:r>
          </a:p>
          <a:p>
            <a:pPr>
              <a:spcAft>
                <a:spcPts val="1800"/>
              </a:spcAft>
              <a:defRPr sz="1700">
                <a:solidFill>
                  <a:srgbClr val="FFFFFF"/>
                </a:solidFill>
                <a:latin typeface="Consolas"/>
              </a:defRPr>
            </a:pPr>
            <a:r>
              <a:t>File created: signal_samples.dat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D343C"/>
                </a:solidFill>
                <a:latin typeface="Aptos"/>
              </a:defRPr>
            </a:pPr>
            <a:r>
              <a:t>Note: Run the source code to capture your own actual IDE/terminal screenshot for submission.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17E30"/>
                </a:solidFill>
                <a:latin typeface="Aptos Display"/>
              </a:defRPr>
            </a:pPr>
            <a:r>
              <a:t>Testing and Exception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580"/>
                </a:solidFill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Test 1 — Normal case: generate samples, save the file, read it back, and confirm PASS.</a:t>
            </a:r>
          </a:p>
          <a:p>
            <a:pPr>
              <a:spcAft>
                <a:spcPts val="9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Test 2 — Missing file: if signal_samples.dat cannot be opened, IOException is reported.</a:t>
            </a:r>
          </a:p>
          <a:p>
            <a:pPr>
              <a:spcAft>
                <a:spcPts val="9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Test 3 — Incomplete file: if the file ends before all expected samples are read, EOFException explains that the file is incomplete.</a:t>
            </a:r>
          </a:p>
          <a:p>
            <a:pPr>
              <a:spcAft>
                <a:spcPts val="9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Test 4 — Invalid data: sample values other than 0 or 1 are rejected.</a:t>
            </a:r>
          </a:p>
          <a:p>
            <a:pPr>
              <a:spcAft>
                <a:spcPts val="9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Test 5 — Mismatch: Arrays.equals() reports FAIL if the restored samples differ.</a:t>
            </a:r>
          </a:p>
          <a:p>
            <a:pPr>
              <a:spcAft>
                <a:spcPts val="9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Streams are closed automatically using try-with-resources.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17E30"/>
                </a:solidFill>
                <a:latin typeface="Aptos Display"/>
              </a:defRPr>
            </a:pPr>
            <a:r>
              <a:t>Innovation or Uniqueness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580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The program verifies data integrity automatically instead of only writing a file.</a:t>
            </a:r>
          </a:p>
          <a:p>
            <a:pPr>
              <a:spcAft>
                <a:spcPts val="9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A fixed random seed makes the sample sequence repeatable during a demonstration.</a:t>
            </a:r>
          </a:p>
          <a:p>
            <a:pPr>
              <a:spcAft>
                <a:spcPts val="9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The file stores the sample count first, allowing the reader to know how many values to expect.</a:t>
            </a:r>
          </a:p>
          <a:p>
            <a:pPr>
              <a:spcAft>
                <a:spcPts val="9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Corrupted or incomplete data is reported clearly rather than silently accepted.</a:t>
            </a:r>
          </a:p>
          <a:p>
            <a:pPr>
              <a:spcAft>
                <a:spcPts val="9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Future improvement: add timestamps, sample rate, signal labels, or a JavaFX waveform display.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17E30"/>
                </a:solidFill>
                <a:latin typeface="Aptos Display"/>
              </a:defRPr>
            </a:pPr>
            <a:r>
              <a:t>Software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580"/>
                </a:solidFill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343C"/>
                </a:solidFill>
                <a:latin typeface="Aptos"/>
              </a:defRPr>
            </a:pPr>
            <a:r>
              <a:t>Language: Java</a:t>
            </a:r>
          </a:p>
          <a:p>
            <a:pPr>
              <a:spcAft>
                <a:spcPts val="900"/>
              </a:spcAft>
              <a:defRPr sz="1900">
                <a:solidFill>
                  <a:srgbClr val="2D343C"/>
                </a:solidFill>
                <a:latin typeface="Aptos"/>
              </a:defRPr>
            </a:pPr>
            <a:r>
              <a:t>Recommended JDK: JDK 21 (compatible with newer or older suitable JDK versions).</a:t>
            </a:r>
          </a:p>
          <a:p>
            <a:pPr>
              <a:spcAft>
                <a:spcPts val="900"/>
              </a:spcAft>
              <a:defRPr sz="1900">
                <a:solidFill>
                  <a:srgbClr val="2D343C"/>
                </a:solidFill>
                <a:latin typeface="Aptos"/>
              </a:defRPr>
            </a:pPr>
            <a:r>
              <a:t>IDE: Eclipse, IntelliJ IDEA, VS Code, or NetBeans; alternatively, use a terminal.</a:t>
            </a:r>
          </a:p>
          <a:p>
            <a:pPr>
              <a:spcAft>
                <a:spcPts val="900"/>
              </a:spcAft>
              <a:defRPr sz="1900">
                <a:solidFill>
                  <a:srgbClr val="2D343C"/>
                </a:solidFill>
                <a:latin typeface="Aptos"/>
              </a:defRPr>
            </a:pPr>
            <a:r>
              <a:t>Libraries: Java standard library only — java.io, java.util.</a:t>
            </a:r>
          </a:p>
          <a:p>
            <a:pPr>
              <a:spcAft>
                <a:spcPts val="900"/>
              </a:spcAft>
              <a:defRPr sz="1900">
                <a:solidFill>
                  <a:srgbClr val="2D343C"/>
                </a:solidFill>
                <a:latin typeface="Aptos"/>
              </a:defRPr>
            </a:pPr>
            <a:r>
              <a:t>Hardware: ordinary laptop or laboratory PC; no special hardware is required.</a:t>
            </a:r>
          </a:p>
          <a:p>
            <a:pPr>
              <a:spcAft>
                <a:spcPts val="900"/>
              </a:spcAft>
              <a:defRPr sz="1900">
                <a:solidFill>
                  <a:srgbClr val="2D343C"/>
                </a:solidFill>
                <a:latin typeface="Aptos"/>
              </a:defRPr>
            </a:pPr>
            <a:r>
              <a:t>Generated output file: signal_samples.dat.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17E30"/>
                </a:solidFill>
                <a:latin typeface="Aptos Display"/>
              </a:defRPr>
            </a:pPr>
            <a:r>
              <a:t>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580"/>
                </a:solidFill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Electronics laboratory: save and verify digital logic samples collected during an experiment.</a:t>
            </a:r>
          </a:p>
          <a:p>
            <a:pPr>
              <a:spcAft>
                <a:spcPts val="9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Signal-processing experiments: preserve sample arrays for later analysis.</a:t>
            </a:r>
          </a:p>
          <a:p>
            <a:pPr>
              <a:spcAft>
                <a:spcPts val="9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Embedded-system development: test data logging workflows before connecting a real device.</a:t>
            </a:r>
          </a:p>
          <a:p>
            <a:pPr>
              <a:spcAft>
                <a:spcPts val="9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Instrumentation: maintain a compact binary record of sensor or logic-level readings.</a:t>
            </a:r>
          </a:p>
          <a:p>
            <a:pPr>
              <a:spcAft>
                <a:spcPts val="9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Education: demonstrate byte streams, typed binary I/O, arrays, and exception handling.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17E30"/>
                </a:solidFill>
                <a:latin typeface="Aptos Display"/>
              </a:defRPr>
            </a:pPr>
            <a:r>
              <a:t>Challenges Faced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580"/>
                </a:solidFill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Challenge: binary files are not human-readable. Solution: use DataInputStream to decode the stored integers.</a:t>
            </a:r>
          </a:p>
          <a:p>
            <a:pPr>
              <a:spcAft>
                <a:spcPts val="9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Challenge: a file might be incomplete. Solution: catch EOFException and report missing sample data.</a:t>
            </a:r>
          </a:p>
          <a:p>
            <a:pPr>
              <a:spcAft>
                <a:spcPts val="9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Challenge: saved values could differ from the original. Solution: compare the arrays with Arrays.equals().</a:t>
            </a:r>
          </a:p>
          <a:p>
            <a:pPr>
              <a:spcAft>
                <a:spcPts val="9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Challenge: streams may remain open after an error. Solution: use try-with-resources.</a:t>
            </a:r>
          </a:p>
          <a:p>
            <a:pPr>
              <a:spcAft>
                <a:spcPts val="900"/>
              </a:spcAft>
              <a:defRPr sz="1800">
                <a:solidFill>
                  <a:srgbClr val="2D343C"/>
                </a:solidFill>
                <a:latin typeface="Aptos"/>
              </a:defRPr>
            </a:pPr>
            <a:r>
              <a:t>Challenge: only 0 and 1 are valid signal samples. Solution: validate values during writing and reading.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17E30"/>
                </a:solidFill>
                <a:latin typeface="Aptos Display"/>
              </a:defRPr>
            </a:pPr>
            <a: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580"/>
                </a:solidFill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343C"/>
                </a:solidFill>
                <a:latin typeface="Aptos"/>
              </a:defRPr>
            </a:pPr>
            <a:r>
              <a:t>I can generate and store digital samples in an integer array.</a:t>
            </a:r>
          </a:p>
          <a:p>
            <a:pPr>
              <a:spcAft>
                <a:spcPts val="900"/>
              </a:spcAft>
              <a:defRPr sz="1900">
                <a:solidFill>
                  <a:srgbClr val="2D343C"/>
                </a:solidFill>
                <a:latin typeface="Aptos"/>
              </a:defRPr>
            </a:pPr>
            <a:r>
              <a:t>I can write and read typed binary data using DataOutputStream and DataInputStream.</a:t>
            </a:r>
          </a:p>
          <a:p>
            <a:pPr>
              <a:spcAft>
                <a:spcPts val="900"/>
              </a:spcAft>
              <a:defRPr sz="1900">
                <a:solidFill>
                  <a:srgbClr val="2D343C"/>
                </a:solidFill>
                <a:latin typeface="Aptos"/>
              </a:defRPr>
            </a:pPr>
            <a:r>
              <a:t>I can use Java file streams and close resources safely.</a:t>
            </a:r>
          </a:p>
          <a:p>
            <a:pPr>
              <a:spcAft>
                <a:spcPts val="900"/>
              </a:spcAft>
              <a:defRPr sz="1900">
                <a:solidFill>
                  <a:srgbClr val="2D343C"/>
                </a:solidFill>
                <a:latin typeface="Aptos"/>
              </a:defRPr>
            </a:pPr>
            <a:r>
              <a:t>I can verify data integrity by comparing arrays.</a:t>
            </a:r>
          </a:p>
          <a:p>
            <a:pPr>
              <a:spcAft>
                <a:spcPts val="900"/>
              </a:spcAft>
              <a:defRPr sz="1900">
                <a:solidFill>
                  <a:srgbClr val="2D343C"/>
                </a:solidFill>
                <a:latin typeface="Aptos"/>
              </a:defRPr>
            </a:pPr>
            <a:r>
              <a:t>I can handle I/O errors and detect incomplete or invalid data.</a:t>
            </a:r>
          </a:p>
          <a:p>
            <a:pPr>
              <a:spcAft>
                <a:spcPts val="900"/>
              </a:spcAft>
              <a:defRPr sz="1900">
                <a:solidFill>
                  <a:srgbClr val="2D343C"/>
                </a:solidFill>
                <a:latin typeface="Aptos"/>
              </a:defRPr>
            </a:pPr>
            <a:r>
              <a:t>I can compile, run, test, and document a small Java application.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E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17E30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580"/>
                </a:solidFill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Oracle Java SE API — DataOutputStream and DataInputStream documentation.</a:t>
            </a:r>
          </a:p>
          <a:p>
            <a:pPr>
              <a:spcAft>
                <a:spcPts val="9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Oracle Java SE API — FileInputStream and FileOutputStream documentation.</a:t>
            </a:r>
          </a:p>
          <a:p>
            <a:pPr>
              <a:spcAft>
                <a:spcPts val="9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Oracle Java SE API — Arrays and Random documentation.</a:t>
            </a:r>
          </a:p>
          <a:p>
            <a:pPr>
              <a:spcAft>
                <a:spcPts val="9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Project source: BinarySignalFileRecorder.java (included with this presentation).</a:t>
            </a:r>
          </a:p>
          <a:p>
            <a:pPr>
              <a:spcAft>
                <a:spcPts val="9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Add any textbook, tutorial, or video that you actually consulted before final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